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Helvetica World" panose="020B0604020202020204" charset="-128"/>
      <p:regular r:id="rId14"/>
    </p:embeddedFont>
    <p:embeddedFont>
      <p:font typeface="Helvetica World Bold" panose="020B0604020202020204" charset="-128"/>
      <p:regular r:id="rId15"/>
    </p:embeddedFont>
    <p:embeddedFont>
      <p:font typeface="DM Sans" panose="020F0502020204030204" pitchFamily="2" charset="0"/>
      <p:regular r:id="rId16"/>
    </p:embeddedFont>
    <p:embeddedFont>
      <p:font typeface="Georgia Pro Condense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387085" cy="10299700"/>
            <a:chOff x="0" y="0"/>
            <a:chExt cx="979317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9317" cy="885799"/>
            </a:xfrm>
            <a:custGeom>
              <a:avLst/>
              <a:gdLst/>
              <a:ahLst/>
              <a:cxnLst/>
              <a:rect l="l" t="t" r="r" b="b"/>
              <a:pathLst>
                <a:path w="979317" h="885799">
                  <a:moveTo>
                    <a:pt x="0" y="0"/>
                  </a:moveTo>
                  <a:lnTo>
                    <a:pt x="979317" y="0"/>
                  </a:lnTo>
                  <a:lnTo>
                    <a:pt x="979317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004C4C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387085" y="0"/>
            <a:ext cx="6900915" cy="10657907"/>
            <a:chOff x="0" y="0"/>
            <a:chExt cx="820987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20987" cy="1267949"/>
            </a:xfrm>
            <a:custGeom>
              <a:avLst/>
              <a:gdLst/>
              <a:ahLst/>
              <a:cxnLst/>
              <a:rect l="l" t="t" r="r" b="b"/>
              <a:pathLst>
                <a:path w="820987" h="1267949">
                  <a:moveTo>
                    <a:pt x="22437" y="0"/>
                  </a:moveTo>
                  <a:lnTo>
                    <a:pt x="798550" y="0"/>
                  </a:lnTo>
                  <a:cubicBezTo>
                    <a:pt x="810942" y="0"/>
                    <a:pt x="820987" y="10046"/>
                    <a:pt x="820987" y="22437"/>
                  </a:cubicBezTo>
                  <a:lnTo>
                    <a:pt x="820987" y="1245511"/>
                  </a:lnTo>
                  <a:cubicBezTo>
                    <a:pt x="820987" y="1257903"/>
                    <a:pt x="810942" y="1267949"/>
                    <a:pt x="798550" y="1267949"/>
                  </a:cubicBezTo>
                  <a:lnTo>
                    <a:pt x="22437" y="1267949"/>
                  </a:lnTo>
                  <a:cubicBezTo>
                    <a:pt x="10046" y="1267949"/>
                    <a:pt x="0" y="1257903"/>
                    <a:pt x="0" y="1245511"/>
                  </a:cubicBezTo>
                  <a:lnTo>
                    <a:pt x="0" y="22437"/>
                  </a:lnTo>
                  <a:cubicBezTo>
                    <a:pt x="0" y="10046"/>
                    <a:pt x="10046" y="0"/>
                    <a:pt x="22437" y="0"/>
                  </a:cubicBez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t="-585" b="-58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50255" y="7952542"/>
            <a:ext cx="6886575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0"/>
              </a:lnSpc>
            </a:pPr>
            <a:r>
              <a:rPr lang="en-US" sz="3800" spc="-57">
                <a:solidFill>
                  <a:srgbClr val="B2EAEA"/>
                </a:solidFill>
                <a:latin typeface="DM Sans"/>
                <a:ea typeface="DM Sans"/>
                <a:cs typeface="DM Sans"/>
                <a:sym typeface="DM Sans"/>
              </a:rPr>
              <a:t>Anisshka Annand Khadtale</a:t>
            </a:r>
          </a:p>
          <a:p>
            <a:pPr marL="0" lvl="0" indent="0" algn="ctr">
              <a:lnSpc>
                <a:spcPts val="4940"/>
              </a:lnSpc>
            </a:pPr>
            <a:r>
              <a:rPr lang="en-US" sz="3800" spc="-57">
                <a:solidFill>
                  <a:srgbClr val="B2EAEA"/>
                </a:solidFill>
                <a:latin typeface="DM Sans"/>
                <a:ea typeface="DM Sans"/>
                <a:cs typeface="DM Sans"/>
                <a:sym typeface="DM Sans"/>
              </a:rPr>
              <a:t>December 11, 2025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7031" y="3822702"/>
            <a:ext cx="9833022" cy="2851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999"/>
              </a:lnSpc>
            </a:pPr>
            <a:r>
              <a:rPr lang="en-US" sz="10999" u="none" strike="noStrike" spc="-384">
                <a:solidFill>
                  <a:srgbClr val="B2EAEA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AI and the Future of Oncology R&amp;D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85593" y="3202770"/>
            <a:ext cx="7808035" cy="4668225"/>
            <a:chOff x="0" y="0"/>
            <a:chExt cx="4378459" cy="26177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78459" cy="2617769"/>
            </a:xfrm>
            <a:custGeom>
              <a:avLst/>
              <a:gdLst/>
              <a:ahLst/>
              <a:cxnLst/>
              <a:rect l="l" t="t" r="r" b="b"/>
              <a:pathLst>
                <a:path w="4378459" h="2617769">
                  <a:moveTo>
                    <a:pt x="4253998" y="2617768"/>
                  </a:moveTo>
                  <a:lnTo>
                    <a:pt x="124460" y="2617768"/>
                  </a:lnTo>
                  <a:cubicBezTo>
                    <a:pt x="55880" y="2617768"/>
                    <a:pt x="0" y="2561888"/>
                    <a:pt x="0" y="249330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253999" y="0"/>
                  </a:lnTo>
                  <a:cubicBezTo>
                    <a:pt x="4322579" y="0"/>
                    <a:pt x="4378459" y="55880"/>
                    <a:pt x="4378459" y="124460"/>
                  </a:cubicBezTo>
                  <a:lnTo>
                    <a:pt x="4378459" y="2493308"/>
                  </a:lnTo>
                  <a:cubicBezTo>
                    <a:pt x="4378459" y="2561888"/>
                    <a:pt x="4322579" y="2617769"/>
                    <a:pt x="4253999" y="2617769"/>
                  </a:cubicBezTo>
                  <a:close/>
                </a:path>
              </a:pathLst>
            </a:custGeom>
            <a:solidFill>
              <a:srgbClr val="246464">
                <a:alpha val="9804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5400000">
            <a:off x="947290" y="6860683"/>
            <a:ext cx="6843109" cy="0"/>
          </a:xfrm>
          <a:prstGeom prst="line">
            <a:avLst/>
          </a:prstGeom>
          <a:ln w="9525" cap="rnd">
            <a:solidFill>
              <a:srgbClr val="B2EA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0" y="3443891"/>
            <a:ext cx="18246628" cy="0"/>
          </a:xfrm>
          <a:prstGeom prst="line">
            <a:avLst/>
          </a:prstGeom>
          <a:ln w="9525" cap="rnd">
            <a:solidFill>
              <a:srgbClr val="B2EA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5400000">
            <a:off x="5243715" y="7053476"/>
            <a:ext cx="7228694" cy="0"/>
          </a:xfrm>
          <a:prstGeom prst="line">
            <a:avLst/>
          </a:prstGeom>
          <a:ln w="9525" cap="rnd">
            <a:solidFill>
              <a:srgbClr val="B2EA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5400000">
            <a:off x="10172548" y="6860683"/>
            <a:ext cx="6843109" cy="0"/>
          </a:xfrm>
          <a:prstGeom prst="line">
            <a:avLst/>
          </a:prstGeom>
          <a:ln w="9525" cap="rnd">
            <a:solidFill>
              <a:srgbClr val="B2EAE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77574" y="4307983"/>
            <a:ext cx="1671034" cy="1671034"/>
          </a:xfrm>
          <a:custGeom>
            <a:avLst/>
            <a:gdLst/>
            <a:ahLst/>
            <a:cxnLst/>
            <a:rect l="l" t="t" r="r" b="b"/>
            <a:pathLst>
              <a:path w="1671034" h="1671034">
                <a:moveTo>
                  <a:pt x="0" y="0"/>
                </a:moveTo>
                <a:lnTo>
                  <a:pt x="1671034" y="0"/>
                </a:lnTo>
                <a:lnTo>
                  <a:pt x="1671034" y="1671034"/>
                </a:lnTo>
                <a:lnTo>
                  <a:pt x="0" y="16710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778111" y="4307983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0"/>
                </a:moveTo>
                <a:lnTo>
                  <a:pt x="1670685" y="0"/>
                </a:lnTo>
                <a:lnTo>
                  <a:pt x="1670685" y="1670685"/>
                </a:lnTo>
                <a:lnTo>
                  <a:pt x="0" y="16706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390740" y="4307983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0"/>
                </a:moveTo>
                <a:lnTo>
                  <a:pt x="1670685" y="0"/>
                </a:lnTo>
                <a:lnTo>
                  <a:pt x="1670685" y="1670685"/>
                </a:lnTo>
                <a:lnTo>
                  <a:pt x="0" y="16706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5067542" y="4307983"/>
            <a:ext cx="1670685" cy="1670685"/>
          </a:xfrm>
          <a:custGeom>
            <a:avLst/>
            <a:gdLst/>
            <a:ahLst/>
            <a:cxnLst/>
            <a:rect l="l" t="t" r="r" b="b"/>
            <a:pathLst>
              <a:path w="1670685" h="1670685">
                <a:moveTo>
                  <a:pt x="0" y="0"/>
                </a:moveTo>
                <a:lnTo>
                  <a:pt x="1670685" y="0"/>
                </a:lnTo>
                <a:lnTo>
                  <a:pt x="1670685" y="1670685"/>
                </a:lnTo>
                <a:lnTo>
                  <a:pt x="0" y="16706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9539508" y="6921487"/>
            <a:ext cx="3373149" cy="194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4"/>
              </a:lnSpc>
            </a:pPr>
            <a:r>
              <a:rPr lang="en-US" sz="2395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Took Health Economics freshman year: intersection of economics, healthcare, and equity.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16310" y="6921487"/>
            <a:ext cx="3373149" cy="769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4"/>
              </a:lnSpc>
            </a:pPr>
            <a:r>
              <a:rPr lang="en-US" sz="2395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Returned to Health Economics in junior year.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26879" y="6921487"/>
            <a:ext cx="3373149" cy="1160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4"/>
              </a:lnSpc>
            </a:pPr>
            <a:r>
              <a:rPr lang="en-US" sz="2395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Apply economics in a way that can improve people’s lives.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30426" y="1009650"/>
            <a:ext cx="12827148" cy="139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</a:pPr>
            <a:r>
              <a:rPr lang="en-US" sz="9000" spc="-270">
                <a:solidFill>
                  <a:srgbClr val="FFFC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My Personal Interest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6516" y="6921487"/>
            <a:ext cx="3373149" cy="1550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14"/>
              </a:lnSpc>
            </a:pPr>
            <a:r>
              <a:rPr lang="en-US" sz="2395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Career that contributes to the public good and creates meaningful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212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>
                <a:alphaModFix amt="40000"/>
              </a:blip>
              <a:stretch>
                <a:fillRect t="-66" b="-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53349" y="1212850"/>
            <a:ext cx="8090651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FFFC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Industry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609214"/>
            <a:ext cx="16205951" cy="485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r>
              <a:rPr lang="en-US" sz="2799" u="none" strike="noStrike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Fastest-growing sector in global pharma R&amp;D — Spending projected to rise from $252B (2024) to $441B (2029).</a:t>
            </a:r>
          </a:p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r>
              <a:rPr lang="en-US" sz="2799" u="none" strike="noStrike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Robust innovation pipeline — More than 700 oncology drugs in development; FDA approved 132 drugs (2020–24).</a:t>
            </a:r>
          </a:p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r>
              <a:rPr lang="en-US" sz="2799" u="none" strike="noStrike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Geographic shift in trial execution — China now accounts for 29% of trial starts, surpassing the U.S. for the first time.</a:t>
            </a:r>
          </a:p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r>
              <a:rPr lang="en-US" sz="2799" u="none" strike="noStrike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Industry structure: Big Pharma + AI-native biotech driving early-stage innovation.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004C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8775" y="2978393"/>
            <a:ext cx="15030450" cy="6591300"/>
          </a:xfrm>
          <a:custGeom>
            <a:avLst/>
            <a:gdLst/>
            <a:ahLst/>
            <a:cxnLst/>
            <a:rect l="l" t="t" r="r" b="b"/>
            <a:pathLst>
              <a:path w="15030450" h="6591300">
                <a:moveTo>
                  <a:pt x="0" y="0"/>
                </a:moveTo>
                <a:lnTo>
                  <a:pt x="15030450" y="0"/>
                </a:lnTo>
                <a:lnTo>
                  <a:pt x="15030450" y="6591300"/>
                </a:lnTo>
                <a:lnTo>
                  <a:pt x="0" y="6591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17157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FFFC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Global Oncology Trials by Country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212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>
                <a:alphaModFix amt="40000"/>
              </a:blip>
              <a:stretch>
                <a:fillRect t="-66" b="-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53349" y="1171575"/>
            <a:ext cx="8090651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FFFC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Industry Growth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3349" y="2629106"/>
            <a:ext cx="16230600" cy="593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High firm entry &amp; investment — Record $13.7B in cancer biotech VC funding in 2021; major acquisitions (Pfizer–Seagen).</a:t>
            </a:r>
          </a:p>
          <a:p>
            <a:pPr marL="647695" lvl="1" indent="-323848" algn="l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Profitability — Blockbusters like Keytruda (&gt; $30B projected annual sales) anchor industry margins.</a:t>
            </a:r>
          </a:p>
          <a:p>
            <a:pPr marL="647695" lvl="1" indent="-323848" algn="l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Rising R&amp;D intensity — Oncology comprises 37% of the clinical pipeline; over 2,000 trials launched in 2023.</a:t>
            </a:r>
          </a:p>
          <a:p>
            <a:pPr marL="647695" lvl="1" indent="-323848" algn="l">
              <a:lnSpc>
                <a:spcPts val="5999"/>
              </a:lnSpc>
              <a:buFont typeface="Arial"/>
              <a:buChar char="•"/>
            </a:pPr>
            <a:r>
              <a:rPr lang="en-US" sz="29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Expanding workforce — U.S. pharma employment rose from 283K → 352K (2015–2023), partly driven by oncology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004C4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685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8775" y="2457450"/>
            <a:ext cx="15030450" cy="7384420"/>
          </a:xfrm>
          <a:custGeom>
            <a:avLst/>
            <a:gdLst/>
            <a:ahLst/>
            <a:cxnLst/>
            <a:rect l="l" t="t" r="r" b="b"/>
            <a:pathLst>
              <a:path w="15030450" h="7384420">
                <a:moveTo>
                  <a:pt x="0" y="0"/>
                </a:moveTo>
                <a:lnTo>
                  <a:pt x="15030450" y="0"/>
                </a:lnTo>
                <a:lnTo>
                  <a:pt x="15030450" y="7384420"/>
                </a:lnTo>
                <a:lnTo>
                  <a:pt x="0" y="7384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7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28700" y="1143000"/>
            <a:ext cx="16431503" cy="915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00"/>
              </a:lnSpc>
            </a:pPr>
            <a:r>
              <a:rPr lang="en-US" sz="6800" spc="-204">
                <a:solidFill>
                  <a:srgbClr val="FFFC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Venture Capital Investment in Oncology Startups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20200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04C4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28700" y="952500"/>
            <a:ext cx="12944475" cy="1016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60"/>
              </a:lnSpc>
            </a:pPr>
            <a:r>
              <a:rPr lang="en-US" sz="6200" spc="-186">
                <a:solidFill>
                  <a:srgbClr val="FFFC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How GenAI Is Reshaping Oncology R&amp;D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44996" y="2639694"/>
            <a:ext cx="5699004" cy="283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FFFC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Rising Skill Requirements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AstraZeneca upskilled 12,000+ employees to use algorithmic tools in discovery and trial design.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44996" y="6103620"/>
            <a:ext cx="5699004" cy="283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FFFC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Changing Competition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Partnerships like Merck–BenevolentAI and Exelixis–Insilico show early adopters gaining speed-to-market.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73732" y="2639694"/>
            <a:ext cx="5699004" cy="283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FFFC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Productivity Gains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ML speeds screening, biomarker detection, and adaptive trials → up to 40% R&amp;D cost reduction.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24953" y="6103620"/>
            <a:ext cx="6353393" cy="283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FFFC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Risks + New Opportunities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Bias in datasets may worsen disparities, but 70+ AI-designed drug candidates and platforms like Trials.ai expand innovation.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212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473194" y="1377286"/>
            <a:ext cx="6638011" cy="3476658"/>
          </a:xfrm>
          <a:custGeom>
            <a:avLst/>
            <a:gdLst/>
            <a:ahLst/>
            <a:cxnLst/>
            <a:rect l="l" t="t" r="r" b="b"/>
            <a:pathLst>
              <a:path w="6638011" h="3476658">
                <a:moveTo>
                  <a:pt x="0" y="0"/>
                </a:moveTo>
                <a:lnTo>
                  <a:pt x="6638012" y="0"/>
                </a:lnTo>
                <a:lnTo>
                  <a:pt x="6638012" y="3476658"/>
                </a:lnTo>
                <a:lnTo>
                  <a:pt x="0" y="3476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926112" y="3747648"/>
            <a:ext cx="5732177" cy="3525289"/>
          </a:xfrm>
          <a:custGeom>
            <a:avLst/>
            <a:gdLst/>
            <a:ahLst/>
            <a:cxnLst/>
            <a:rect l="l" t="t" r="r" b="b"/>
            <a:pathLst>
              <a:path w="5732177" h="3525289">
                <a:moveTo>
                  <a:pt x="0" y="0"/>
                </a:moveTo>
                <a:lnTo>
                  <a:pt x="5732176" y="0"/>
                </a:lnTo>
                <a:lnTo>
                  <a:pt x="5732176" y="3525289"/>
                </a:lnTo>
                <a:lnTo>
                  <a:pt x="0" y="3525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943230" y="5143500"/>
            <a:ext cx="9697940" cy="5464031"/>
          </a:xfrm>
          <a:custGeom>
            <a:avLst/>
            <a:gdLst/>
            <a:ahLst/>
            <a:cxnLst/>
            <a:rect l="l" t="t" r="r" b="b"/>
            <a:pathLst>
              <a:path w="9697940" h="5464031">
                <a:moveTo>
                  <a:pt x="0" y="0"/>
                </a:moveTo>
                <a:lnTo>
                  <a:pt x="9697940" y="0"/>
                </a:lnTo>
                <a:lnTo>
                  <a:pt x="9697940" y="5464031"/>
                </a:lnTo>
                <a:lnTo>
                  <a:pt x="0" y="5464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28700" y="969296"/>
            <a:ext cx="9111499" cy="93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7000">
                <a:solidFill>
                  <a:srgbClr val="FFFC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Personal Opportunity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471351"/>
            <a:ext cx="8115300" cy="6282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7" lvl="1" indent="-345439" algn="l">
              <a:lnSpc>
                <a:spcPts val="5599"/>
              </a:lnSpc>
              <a:buFont typeface="Arial"/>
              <a:buChar char="•"/>
            </a:pPr>
            <a:r>
              <a:rPr lang="en-US" sz="31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Health Economics &amp; Outcomes Research (HEOR): analyzing how AI-enabled therapies deliver value, improve outcomes, and shape cost-effectiveness.</a:t>
            </a:r>
          </a:p>
          <a:p>
            <a:pPr marL="690877" lvl="1" indent="-345439" algn="l">
              <a:lnSpc>
                <a:spcPts val="5599"/>
              </a:lnSpc>
              <a:buFont typeface="Arial"/>
              <a:buChar char="•"/>
            </a:pPr>
            <a:r>
              <a:rPr lang="en-US" sz="31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Apply interdisciplinary strengths across economics, data analysis, and healthcare systems.</a:t>
            </a:r>
          </a:p>
          <a:p>
            <a:pPr marL="690877" lvl="1" indent="-345439" algn="l">
              <a:lnSpc>
                <a:spcPts val="5599"/>
              </a:lnSpc>
              <a:buFont typeface="Arial"/>
              <a:buChar char="•"/>
            </a:pPr>
            <a:r>
              <a:rPr lang="en-US" sz="3199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Translating clinical evidence into economic insights.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40681" y="5105400"/>
            <a:ext cx="4007657" cy="260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</a:t>
            </a:r>
            <a:r>
              <a:rPr lang="en-US" sz="2499" u="none" strike="noStrike" spc="-37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ild technical skills in R and Python for health data analysis.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 spc="-37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Coursera, Udemy certificate.</a:t>
            </a:r>
          </a:p>
          <a:p>
            <a:pPr marL="0" lvl="0" indent="0" algn="l">
              <a:lnSpc>
                <a:spcPts val="3499"/>
              </a:lnSpc>
            </a:pPr>
            <a:endParaRPr lang="en-US" sz="2499" u="none" strike="noStrike" spc="-37">
              <a:solidFill>
                <a:srgbClr val="B2EAEA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138988" y="5105400"/>
            <a:ext cx="4010025" cy="391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Work on </a:t>
            </a:r>
            <a:r>
              <a:rPr lang="en-US" sz="2499" u="none" strike="noStrike" spc="-37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oncology basics (trial endpoints, biomarkers, immunotherapy).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u="none" strike="noStrike" spc="-37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YouTube, online learning platforms, university courses have several resources.</a:t>
            </a:r>
          </a:p>
          <a:p>
            <a:pPr marL="0" lvl="0" indent="0" algn="l">
              <a:lnSpc>
                <a:spcPts val="3499"/>
              </a:lnSpc>
            </a:pPr>
            <a:endParaRPr lang="en-US" sz="2499" u="none" strike="noStrike" spc="-37">
              <a:solidFill>
                <a:srgbClr val="B2EAEA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542960" y="5457825"/>
            <a:ext cx="4009236" cy="391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Take this project further and enhance it for my Public Interest Technology capstone credit.</a:t>
            </a:r>
          </a:p>
          <a:p>
            <a:pPr marL="539748" lvl="1" indent="-269874" algn="l">
              <a:lnSpc>
                <a:spcPts val="3499"/>
              </a:lnSpc>
              <a:buFont typeface="Arial"/>
              <a:buChar char="•"/>
            </a:pPr>
            <a:r>
              <a:rPr lang="en-US" sz="2499" spc="-37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Therefore, explore the impact of AI on the oncology R&amp;D industry in more detail.</a:t>
            </a:r>
          </a:p>
        </p:txBody>
      </p:sp>
      <p:sp>
        <p:nvSpPr>
          <p:cNvPr id="5" name="AutoShape 5"/>
          <p:cNvSpPr/>
          <p:nvPr/>
        </p:nvSpPr>
        <p:spPr>
          <a:xfrm>
            <a:off x="2064531" y="4410075"/>
            <a:ext cx="14487665" cy="0"/>
          </a:xfrm>
          <a:prstGeom prst="line">
            <a:avLst/>
          </a:prstGeom>
          <a:ln w="19050" cap="flat">
            <a:solidFill>
              <a:srgbClr val="008B8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740681" y="4248150"/>
            <a:ext cx="323850" cy="323850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8B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977062" y="4248150"/>
            <a:ext cx="323850" cy="323850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8B8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542960" y="4248150"/>
            <a:ext cx="323850" cy="32385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8B8B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Upskilling Plan (6-12 months)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2621915"/>
            <a:ext cx="8693378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040277" y="1981200"/>
            <a:ext cx="7802739" cy="2779726"/>
          </a:xfrm>
          <a:custGeom>
            <a:avLst/>
            <a:gdLst/>
            <a:ahLst/>
            <a:cxnLst/>
            <a:rect l="l" t="t" r="r" b="b"/>
            <a:pathLst>
              <a:path w="7802739" h="2779726">
                <a:moveTo>
                  <a:pt x="0" y="0"/>
                </a:moveTo>
                <a:lnTo>
                  <a:pt x="7802738" y="0"/>
                </a:lnTo>
                <a:lnTo>
                  <a:pt x="7802738" y="2779726"/>
                </a:lnTo>
                <a:lnTo>
                  <a:pt x="0" y="27797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956311" y="4316329"/>
            <a:ext cx="5970671" cy="5970671"/>
          </a:xfrm>
          <a:custGeom>
            <a:avLst/>
            <a:gdLst/>
            <a:ahLst/>
            <a:cxnLst/>
            <a:rect l="l" t="t" r="r" b="b"/>
            <a:pathLst>
              <a:path w="5970671" h="5970671">
                <a:moveTo>
                  <a:pt x="0" y="0"/>
                </a:moveTo>
                <a:lnTo>
                  <a:pt x="5970670" y="0"/>
                </a:lnTo>
                <a:lnTo>
                  <a:pt x="5970670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700" y="976312"/>
            <a:ext cx="8693378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209">
                <a:solidFill>
                  <a:srgbClr val="FFFC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Reflection and Takeaways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119754"/>
            <a:ext cx="8693378" cy="613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4899"/>
              </a:lnSpc>
              <a:buFont typeface="Arial"/>
              <a:buChar char="•"/>
            </a:pPr>
            <a:r>
              <a:rPr lang="en-US" sz="2799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From basic prompting to a more iterative, intentional approach that produces stronger analytical work.</a:t>
            </a:r>
          </a:p>
          <a:p>
            <a:pPr marL="604518" lvl="1" indent="-302259" algn="l">
              <a:lnSpc>
                <a:spcPts val="4899"/>
              </a:lnSpc>
              <a:buFont typeface="Arial"/>
              <a:buChar char="•"/>
            </a:pPr>
            <a:r>
              <a:rPr lang="en-US" sz="2799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may reshape entry-level work, but it also expands opportunities once you build strong skills.</a:t>
            </a:r>
          </a:p>
          <a:p>
            <a:pPr marL="604518" lvl="1" indent="-302259" algn="l">
              <a:lnSpc>
                <a:spcPts val="4899"/>
              </a:lnSpc>
              <a:buFont typeface="Arial"/>
              <a:buChar char="•"/>
            </a:pPr>
            <a:r>
              <a:rPr lang="en-US" sz="2799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project confirmed my interest in Health Economics, especially the parts of the field that intersect with data, policy, and innovation.</a:t>
            </a:r>
          </a:p>
          <a:p>
            <a:pPr marL="604518" lvl="1" indent="-302259" algn="l">
              <a:lnSpc>
                <a:spcPts val="4899"/>
              </a:lnSpc>
              <a:buFont typeface="Arial"/>
              <a:buChar char="•"/>
            </a:pPr>
            <a:r>
              <a:rPr lang="en-US" sz="2799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Long-term path: gain a few years of experience, then pursue a master’s or PhD in Health Economics with a stronger AI skillset.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12121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68158" cy="9211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>
                <a:alphaModFix amt="40000"/>
              </a:blip>
              <a:stretch>
                <a:fillRect t="-66" b="-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212850"/>
            <a:ext cx="9632308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>
                <a:solidFill>
                  <a:srgbClr val="FFFCF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Ownership and AI Use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15240"/>
            <a:ext cx="7279209" cy="5563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r>
              <a:rPr lang="en-US" sz="2799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 take ownership of all the content and design ideas.</a:t>
            </a:r>
          </a:p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r>
              <a:rPr lang="en-US" sz="2799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(ChatGPT, NotebookLM, Canva AI) was used as a personal assistant.</a:t>
            </a:r>
          </a:p>
          <a:p>
            <a:pPr marL="604518" lvl="1" indent="-302259" algn="l">
              <a:lnSpc>
                <a:spcPts val="5599"/>
              </a:lnSpc>
              <a:buFont typeface="Arial"/>
              <a:buChar char="•"/>
            </a:pPr>
            <a:r>
              <a:rPr lang="en-US" sz="2799" spc="-41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 addition to the ways we used AI in class, I used it to customize my data visulizations, generate designs for the presentation, and organize my presentation.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81575" y="7528366"/>
            <a:ext cx="8324850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0"/>
              </a:lnSpc>
            </a:pPr>
            <a:r>
              <a:rPr lang="en-US" sz="3800" spc="-57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Anisshka Annand Khadtale</a:t>
            </a:r>
          </a:p>
          <a:p>
            <a:pPr marL="0" lvl="0" indent="0" algn="ctr">
              <a:lnSpc>
                <a:spcPts val="4940"/>
              </a:lnSpc>
            </a:pPr>
            <a:r>
              <a:rPr lang="en-US" sz="3800" u="sng" spc="-57">
                <a:solidFill>
                  <a:srgbClr val="B2EAEA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akhadtale@umass.edu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93247" y="3046377"/>
            <a:ext cx="11301507" cy="3894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956"/>
              </a:lnSpc>
            </a:pPr>
            <a:r>
              <a:rPr lang="en-US" sz="14956" spc="-523">
                <a:solidFill>
                  <a:srgbClr val="00B2B2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Custom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Helvetica World</vt:lpstr>
      <vt:lpstr>Helvetica World Bold</vt:lpstr>
      <vt:lpstr>DM Sans</vt:lpstr>
      <vt:lpstr>Georgia Pro Condensed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AI-Driven Transformation</dc:title>
  <dc:description>Presentation - AI-Driven Transformation</dc:description>
  <cp:lastModifiedBy>Anisshka Khadtale</cp:lastModifiedBy>
  <cp:revision>1</cp:revision>
  <dcterms:created xsi:type="dcterms:W3CDTF">2006-08-16T00:00:00Z</dcterms:created>
  <dcterms:modified xsi:type="dcterms:W3CDTF">2025-12-12T04:46:15Z</dcterms:modified>
  <dc:identifier>DAG7LW1x-E0</dc:identifier>
</cp:coreProperties>
</file>